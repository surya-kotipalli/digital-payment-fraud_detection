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11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40318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Digital Payment Fraud Detection using Data Mining Techniques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2439233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— Data Warehousing &amp; Data Mining (DWDM)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3079671"/>
            <a:ext cx="13092351" cy="16431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25" y="3657243"/>
            <a:ext cx="219670" cy="2196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025" y="3972758"/>
            <a:ext cx="8322350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769025" y="414349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Team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69025" y="4699516"/>
            <a:ext cx="832235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 Surya Teja – 23BCE8465  |  C G Sindhu – 24BCD7162  |  G L Narasimha – 23BCE8488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025" y="5796677"/>
            <a:ext cx="219670" cy="21967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9025" y="6112193"/>
            <a:ext cx="8322350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1" name="Text 7"/>
          <p:cNvSpPr/>
          <p:nvPr/>
        </p:nvSpPr>
        <p:spPr>
          <a:xfrm>
            <a:off x="769025" y="628292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Faculty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9025" y="6838950"/>
            <a:ext cx="832235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Prof. Hari Seetha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35014" y="3629858"/>
            <a:ext cx="4233863" cy="1817251"/>
          </a:xfrm>
          <a:prstGeom prst="roundRect">
            <a:avLst>
              <a:gd name="adj" fmla="val 5079"/>
            </a:avLst>
          </a:prstGeom>
          <a:solidFill>
            <a:srgbClr val="BBCDF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684" y="3923943"/>
            <a:ext cx="343257" cy="2745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17612" y="389751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Course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10417612" y="4453533"/>
            <a:ext cx="3231594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Warehousing &amp; Data Mining (DWDM)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1648"/>
            <a:ext cx="1553051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69633"/>
            <a:ext cx="12808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18617"/>
            <a:ext cx="7259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 &amp; Motivation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94372"/>
            <a:ext cx="44421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Digital Payment Landscape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75516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Rapid growth of UPI, online banking, and mobile wallets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Millions of transactions processed daily at scale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Rise in fraudulent activity driven by digitalization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Intelligent, automated detection systems are essential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594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175516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Financial losses from fraud are significant and growing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monitoring is inefficient and time-consuming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 patterns are complex and constantly evolving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offers a scalable, data-driven solution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5483066"/>
            <a:ext cx="6244709" cy="1689616"/>
          </a:xfrm>
          <a:prstGeom prst="roundRect">
            <a:avLst>
              <a:gd name="adj" fmla="val 5638"/>
            </a:avLst>
          </a:prstGeom>
          <a:solidFill>
            <a:srgbClr val="BBCDF7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811917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6637" y="5766554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Problem:</a:t>
            </a: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Traditional rule-based systems fail to identify complex fraud patterns in large-scale transaction data.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7125"/>
            <a:ext cx="854393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75109"/>
            <a:ext cx="5822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240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73035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03515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sp>
        <p:nvSpPr>
          <p:cNvPr id="7" name="Text 5"/>
          <p:cNvSpPr/>
          <p:nvPr/>
        </p:nvSpPr>
        <p:spPr>
          <a:xfrm>
            <a:off x="3827621" y="2527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084" y="331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Analyze Patterns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380118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Examine transaction data to identify distinguishing characteristics of fraudulent activity.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373035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9027" y="2403515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2498" y="2527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685842" y="331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Apply Data Mining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80118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classification techniques from data mining to model fraud vs. legitimate transactions.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011103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270" y="504158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sp>
        <p:nvSpPr>
          <p:cNvPr id="17" name="Text 15"/>
          <p:cNvSpPr/>
          <p:nvPr/>
        </p:nvSpPr>
        <p:spPr>
          <a:xfrm>
            <a:off x="3827621" y="5165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051084" y="5948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 Models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084" y="643925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multiple ML classifiers — Logistic Regression, Decision Tree, Random Forest, and KNN.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011103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9027" y="504158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498" y="5165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7685842" y="5948839"/>
            <a:ext cx="3204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Compare Performance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85842" y="643925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and compare models using accuracy, precision, recall, and F1 score metrics.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82335"/>
            <a:ext cx="639961" cy="332303"/>
          </a:xfrm>
          <a:prstGeom prst="roundRect">
            <a:avLst>
              <a:gd name="adj" fmla="val 18993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47261" y="638651"/>
            <a:ext cx="414695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34628" y="976789"/>
            <a:ext cx="8468201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Description &amp; Preprocessing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834628" y="195250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4628" y="2401491"/>
            <a:ext cx="625137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Online payment transaction dataset where each row represents a single financial transaction.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34628" y="3125748"/>
            <a:ext cx="6251377" cy="3186232"/>
          </a:xfrm>
          <a:prstGeom prst="roundRect">
            <a:avLst>
              <a:gd name="adj" fmla="val 24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0129" y="3234214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Attribute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51948" y="3234214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30129" y="3718203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51948" y="3718203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 interval of transaction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30129" y="4202192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51948" y="4202192"/>
            <a:ext cx="2738676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 type (e.g., TRANSFER)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30129" y="4960858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amount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51948" y="4960858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 value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30129" y="5444847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old/new balance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51948" y="5444847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Origin &amp; destination balances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30129" y="5928836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isFraud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151948" y="5928836"/>
            <a:ext cx="273867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variable (0 or 1)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4628" y="6486882"/>
            <a:ext cx="6251377" cy="985480"/>
          </a:xfrm>
          <a:prstGeom prst="roundRect">
            <a:avLst>
              <a:gd name="adj" fmla="val 8006"/>
            </a:avLst>
          </a:prstGeom>
          <a:solidFill>
            <a:srgbClr val="BBCDF7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90" y="6747748"/>
            <a:ext cx="234791" cy="18776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44943" y="6689288"/>
            <a:ext cx="545330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is </a:t>
            </a:r>
            <a:r>
              <a:rPr lang="en-US" sz="14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highly imbalanced</a:t>
            </a: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fraudulent cases are a very small minority.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551777" y="1952506"/>
            <a:ext cx="235684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 Steps</a:t>
            </a:r>
            <a:endParaRPr lang="en-US" sz="18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143" y="2430244"/>
            <a:ext cx="281702" cy="28170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62092" y="2420898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irrelevant attributes such as account IDs</a:t>
            </a:r>
            <a:endParaRPr lang="en-US" sz="14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143" y="3314164"/>
            <a:ext cx="281702" cy="28170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62092" y="3304818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Converted categorical variable </a:t>
            </a:r>
            <a:r>
              <a:rPr lang="en-US" sz="14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type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into numerical values</a:t>
            </a:r>
            <a:endParaRPr lang="en-US" sz="14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143" y="4198084"/>
            <a:ext cx="281702" cy="2817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162092" y="4188738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Checked for and resolved missing values and duplicates</a:t>
            </a:r>
            <a:endParaRPr lang="en-US" sz="14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143" y="5082004"/>
            <a:ext cx="281702" cy="2817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62092" y="5072658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 clean dataset ready for ML model training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881539" cy="300276"/>
          </a:xfrm>
          <a:prstGeom prst="roundRect">
            <a:avLst>
              <a:gd name="adj" fmla="val 19433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427917" y="579715"/>
            <a:ext cx="673179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7020758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Visualization &amp; Key Insights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3575566"/>
            <a:ext cx="244875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the Data Reveals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34513" y="3979664"/>
            <a:ext cx="5779532" cy="185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 transactions are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significantly fewer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than normal — severe class imbalance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 is concentrated in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TRANSFER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CASH_OUT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transaction types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transaction amounts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more likely to be fraudulent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Unusual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changes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origin/destination accounts are strong fraud indicators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993" y="615434"/>
            <a:ext cx="1494830" cy="365522"/>
          </a:xfrm>
          <a:prstGeom prst="roundRect">
            <a:avLst>
              <a:gd name="adj" fmla="val 1857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828199" y="676037"/>
            <a:ext cx="1252418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6993" y="1052870"/>
            <a:ext cx="8091249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Models Used &amp; Training Strategy</a:t>
            </a:r>
            <a:endParaRPr lang="en-US" sz="3950" dirty="0"/>
          </a:p>
        </p:txBody>
      </p:sp>
      <p:sp>
        <p:nvSpPr>
          <p:cNvPr id="5" name="Shape 3"/>
          <p:cNvSpPr/>
          <p:nvPr/>
        </p:nvSpPr>
        <p:spPr>
          <a:xfrm>
            <a:off x="706993" y="1953935"/>
            <a:ext cx="6518196" cy="2239566"/>
          </a:xfrm>
          <a:prstGeom prst="roundRect">
            <a:avLst>
              <a:gd name="adj" fmla="val 37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6543" y="2163485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54D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231" y="2330053"/>
            <a:ext cx="272653" cy="2726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6543" y="294941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Logistic Regression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16543" y="3372922"/>
            <a:ext cx="609909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Baseline linear classification model for binary fraud detection.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405092" y="1953935"/>
            <a:ext cx="6518315" cy="2239566"/>
          </a:xfrm>
          <a:prstGeom prst="roundRect">
            <a:avLst>
              <a:gd name="adj" fmla="val 37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4642" y="2163485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54D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1330" y="2330053"/>
            <a:ext cx="272653" cy="2726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4642" y="294941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Decision Tree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614642" y="3372922"/>
            <a:ext cx="6099215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Interpretable rule-based model that splits data on key features.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06993" y="4373404"/>
            <a:ext cx="6518196" cy="1934051"/>
          </a:xfrm>
          <a:prstGeom prst="roundRect">
            <a:avLst>
              <a:gd name="adj" fmla="val 438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6543" y="4582954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54D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231" y="4749522"/>
            <a:ext cx="272653" cy="27265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6543" y="536888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916543" y="5792391"/>
            <a:ext cx="609909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of decision trees improving accuracy and robustness.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7405092" y="4373404"/>
            <a:ext cx="6518315" cy="1934051"/>
          </a:xfrm>
          <a:prstGeom prst="roundRect">
            <a:avLst>
              <a:gd name="adj" fmla="val 438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14642" y="4582954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54D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1330" y="4749522"/>
            <a:ext cx="272653" cy="27265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14642" y="5368885"/>
            <a:ext cx="260568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K-Nearest Neighbors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7614642" y="5792391"/>
            <a:ext cx="609921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Distance-based classifier grouping transactions by similarity.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706993" y="6509861"/>
            <a:ext cx="13216414" cy="1104305"/>
          </a:xfrm>
          <a:prstGeom prst="roundRect">
            <a:avLst>
              <a:gd name="adj" fmla="val 7683"/>
            </a:avLst>
          </a:prstGeom>
          <a:solidFill>
            <a:srgbClr val="BBCDF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23" y="6791325"/>
            <a:ext cx="252413" cy="2019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63266" y="6740247"/>
            <a:ext cx="1235821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Training Setup:</a:t>
            </a: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80:20 train-test split · Features and target separated · Data scaling applied for KNN · All models evaluated on held-out test data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57895" y="434221"/>
            <a:ext cx="570548" cy="190262"/>
          </a:xfrm>
          <a:prstGeom prst="roundRect">
            <a:avLst>
              <a:gd name="adj" fmla="val 21281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3230166" y="470297"/>
            <a:ext cx="42600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157895" y="650081"/>
            <a:ext cx="3776305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Evaluation Results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3157895" y="1122521"/>
            <a:ext cx="61817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35" y="1159073"/>
            <a:ext cx="91440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3155" y="1145381"/>
            <a:ext cx="38957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Precision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837027" y="1122521"/>
            <a:ext cx="479465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367" y="1159073"/>
            <a:ext cx="91440" cy="91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12287" y="1145381"/>
            <a:ext cx="250865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Recall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4377452" y="1122521"/>
            <a:ext cx="58912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792" y="1159073"/>
            <a:ext cx="91440" cy="91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52712" y="1145381"/>
            <a:ext cx="36052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F1 Score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895" y="1363266"/>
            <a:ext cx="8314611" cy="30102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27716" y="159051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0.82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9970830" y="1756648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0.84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9899630" y="192278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0.83</a:t>
            </a:r>
            <a:endParaRPr lang="en-US" sz="650" dirty="0"/>
          </a:p>
        </p:txBody>
      </p:sp>
      <p:sp>
        <p:nvSpPr>
          <p:cNvPr id="18" name="Text 12"/>
          <p:cNvSpPr/>
          <p:nvPr/>
        </p:nvSpPr>
        <p:spPr>
          <a:xfrm>
            <a:off x="10333732" y="2240119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0.89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6929973" y="240625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0.42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8020348" y="2572388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0.57</a:t>
            </a:r>
            <a:endParaRPr lang="en-US" sz="650" dirty="0"/>
          </a:p>
        </p:txBody>
      </p:sp>
      <p:sp>
        <p:nvSpPr>
          <p:cNvPr id="21" name="Text 15"/>
          <p:cNvSpPr/>
          <p:nvPr/>
        </p:nvSpPr>
        <p:spPr>
          <a:xfrm>
            <a:off x="10768548" y="2889724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0.95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9899630" y="3055858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0.83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10261342" y="322199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0.88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10984766" y="3539329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0.98</a:t>
            </a:r>
            <a:endParaRPr lang="en-US" sz="650" dirty="0"/>
          </a:p>
        </p:txBody>
      </p:sp>
      <p:sp>
        <p:nvSpPr>
          <p:cNvPr id="25" name="Text 19"/>
          <p:cNvSpPr/>
          <p:nvPr/>
        </p:nvSpPr>
        <p:spPr>
          <a:xfrm>
            <a:off x="8090356" y="370546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0.58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9178588" y="3871598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0.73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3157895" y="5558319"/>
            <a:ext cx="1598057" cy="504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Accuracy (All Models)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3157895" y="6219111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99.99%</a:t>
            </a:r>
            <a:endParaRPr lang="en-US" sz="3100" dirty="0"/>
          </a:p>
        </p:txBody>
      </p:sp>
      <p:sp>
        <p:nvSpPr>
          <p:cNvPr id="29" name="Text 23"/>
          <p:cNvSpPr/>
          <p:nvPr/>
        </p:nvSpPr>
        <p:spPr>
          <a:xfrm>
            <a:off x="4463415" y="6724888"/>
            <a:ext cx="1506260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355205" y="6219111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99.99%</a:t>
            </a:r>
            <a:endParaRPr lang="en-US" sz="3100" dirty="0"/>
          </a:p>
        </p:txBody>
      </p:sp>
      <p:sp>
        <p:nvSpPr>
          <p:cNvPr id="31" name="Text 25"/>
          <p:cNvSpPr/>
          <p:nvPr/>
        </p:nvSpPr>
        <p:spPr>
          <a:xfrm>
            <a:off x="8660725" y="6724888"/>
            <a:ext cx="1506260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KNN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3157895" y="7101364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99.96%</a:t>
            </a:r>
            <a:endParaRPr lang="en-US" sz="3100" dirty="0"/>
          </a:p>
        </p:txBody>
      </p:sp>
      <p:sp>
        <p:nvSpPr>
          <p:cNvPr id="33" name="Text 27"/>
          <p:cNvSpPr/>
          <p:nvPr/>
        </p:nvSpPr>
        <p:spPr>
          <a:xfrm>
            <a:off x="4463415" y="7607141"/>
            <a:ext cx="1506260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355205" y="7101364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99.93%</a:t>
            </a:r>
            <a:endParaRPr lang="en-US" sz="3100" dirty="0"/>
          </a:p>
        </p:txBody>
      </p:sp>
      <p:sp>
        <p:nvSpPr>
          <p:cNvPr id="35" name="Text 29"/>
          <p:cNvSpPr/>
          <p:nvPr/>
        </p:nvSpPr>
        <p:spPr>
          <a:xfrm>
            <a:off x="8660725" y="7607141"/>
            <a:ext cx="1506260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Logistic Regression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907971" cy="300276"/>
          </a:xfrm>
          <a:prstGeom prst="roundRect">
            <a:avLst>
              <a:gd name="adj" fmla="val 19433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427917" y="579715"/>
            <a:ext cx="699611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76563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Comparison &amp; Interpretation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3307080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34513" y="3711178"/>
            <a:ext cx="5779532" cy="2393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delivers the best overall performance with highest F1 score (0.88)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Tree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provides the most balanced precision-recall trade-off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Logistic Regression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has critically low recall — misses many actual fraud cases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KNN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highly precise but misses ~42% of fraudulent transactions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Near-perfect accuracy is partly due to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 imbalance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the dataset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4664"/>
            <a:ext cx="1491377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92649"/>
            <a:ext cx="12192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41634"/>
            <a:ext cx="8511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Challenges in Fraud Detection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690574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69057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2947868"/>
            <a:ext cx="3289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Severe Class Imbalance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438287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Fraudulent transactions represent a tiny fraction of the dataset, making it hard for models to learn fraud patterns effectively.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690574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269057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2947868"/>
            <a:ext cx="31884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Accuracy is Misleading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438287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accuracy alone is insufficient — a model predicting "no fraud" always would still score ~99%. Recall and F1 are more meaningful metrics.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110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01110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268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Missed Detections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75881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Some fraudulent transactions remain undetected, particularly in models with low recall like Logistic Regression and KNN.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1110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501110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5268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Recall is Critical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75881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fraud detection, missing a fraud case (false negative) is far more costly than a false alarm — recall must be prioritized.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552569"/>
            <a:ext cx="958810" cy="308253"/>
          </a:xfrm>
          <a:prstGeom prst="roundRect">
            <a:avLst>
              <a:gd name="adj" fmla="val 19316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307783" y="605671"/>
            <a:ext cx="74616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01460" y="916186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201460" y="1833324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8432" y="1894165"/>
            <a:ext cx="258746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Mining is Effective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8432" y="2309336"/>
            <a:ext cx="53605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Classification techniques successfully identify fraudulent transactions from large-scale payment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1460" y="3090982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8432" y="3151823"/>
            <a:ext cx="310610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Multi-Model Approach Wins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8432" y="3566993"/>
            <a:ext cx="53605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Comparing multiple models provides deeper insight —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emerged as the top performer.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01460" y="4348639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8432" y="4409480"/>
            <a:ext cx="355473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Imbalance Remains a Challenge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8432" y="4824651"/>
            <a:ext cx="53605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 imbalance limits detection capability; techniques like SMOTE could improve future results.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01460" y="5606296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8432" y="566713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8432" y="6082308"/>
            <a:ext cx="53605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models and real-time detection pipelines can further enhance fraud detection accuracy.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11283" y="1677591"/>
            <a:ext cx="6152555" cy="5999321"/>
          </a:xfrm>
          <a:prstGeom prst="roundRect">
            <a:avLst>
              <a:gd name="adj" fmla="val 2127"/>
            </a:avLst>
          </a:prstGeom>
          <a:solidFill>
            <a:srgbClr val="1B54D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8448" y="181594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Summary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8448" y="2231112"/>
            <a:ext cx="5798225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that data mining techniques — especially ensemble methods — provide reliable, scalable fraud detection for digital payment systems.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588448" y="3188375"/>
            <a:ext cx="5798225" cy="1321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588448" y="3401616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8448" y="3792379"/>
            <a:ext cx="5798225" cy="110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00"/>
              </a:lnSpc>
              <a:buNone/>
            </a:pPr>
            <a:r>
              <a:rPr lang="en-US" sz="6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THANK YOU</a:t>
            </a:r>
            <a:endParaRPr lang="en-US" sz="6950" dirty="0"/>
          </a:p>
        </p:txBody>
      </p:sp>
      <p:sp>
        <p:nvSpPr>
          <p:cNvPr id="23" name="Text 21"/>
          <p:cNvSpPr/>
          <p:nvPr/>
        </p:nvSpPr>
        <p:spPr>
          <a:xfrm>
            <a:off x="7588448" y="5038249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88448" y="5415201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8448" y="5792153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88448" y="6169104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588448" y="6546056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88448" y="6923008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 the guidance of</a:t>
            </a:r>
            <a:r>
              <a:rPr lang="en-US" sz="13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Prof. Hari Seetha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88448" y="7299960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Course:</a:t>
            </a:r>
            <a:r>
              <a:rPr lang="en-US" sz="13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DWDM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769</Words>
  <Application>Microsoft Office PowerPoint</Application>
  <PresentationFormat>Custom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Arial</vt:lpstr>
      <vt:lpstr>Alexandria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Kotipalli Surya Teja</dc:creator>
  <cp:lastModifiedBy>Kotipalli Surya Teja</cp:lastModifiedBy>
  <cp:revision>2</cp:revision>
  <dcterms:created xsi:type="dcterms:W3CDTF">2026-04-12T13:41:51Z</dcterms:created>
  <dcterms:modified xsi:type="dcterms:W3CDTF">2026-04-12T13:50:24Z</dcterms:modified>
</cp:coreProperties>
</file>